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640080"/>
            <a:ext cx="2651760" cy="2651760"/>
          </a:xfrm>
          <a:prstGeom prst="ellipse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834640"/>
            <a:ext cx="1737360" cy="1737360"/>
          </a:xfrm>
          <a:prstGeom prst="ellipse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4023360"/>
            <a:ext cx="2103120" cy="2103120"/>
          </a:xfrm>
          <a:prstGeom prst="ellipse">
            <a:avLst/>
          </a:prstGeom>
          <a:solidFill>
            <a:srgbClr val="24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6217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A0DADA"/>
                </a:solidFill>
                <a:latin typeface="Aptos"/>
              </a:defRPr>
            </a:pPr>
            <a:r>
              <a:t>MACHINE LEARNING •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777240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Audience Engagement</a:t>
            </a:r>
            <a:br/>
            <a: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67665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100" b="0">
                <a:solidFill>
                  <a:srgbClr val="D5E2F2"/>
                </a:solidFill>
                <a:latin typeface="Aptos"/>
              </a:defRPr>
            </a:pPr>
            <a:r>
              <a:t>Using Decision Trees with Cross-Validation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840480"/>
            <a:ext cx="1097280" cy="64008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69494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Presented by:</a:t>
            </a:r>
            <a:br/>
            <a:r>
              <a:t>Hansita  |  Roll No.: 2520030332</a:t>
            </a:r>
            <a:br/>
            <a:r>
              <a:t>K. Vaishali  |  Roll No.: 2520030117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6949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[Department]  •  [University]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722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BECCDE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01 •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5156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100" b="1">
                <a:solidFill>
                  <a:srgbClr val="162745"/>
                </a:solidFill>
                <a:latin typeface="Aptos"/>
              </a:defRPr>
            </a:pPr>
            <a:r>
              <a:t>Audience engagement describes how actively people interact with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429000" cy="2286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73152" cy="228600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13432"/>
            <a:ext cx="3063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52344"/>
            <a:ext cx="3063240" cy="1572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Watch time • Likes</a:t>
            </a:r>
            <a:br/>
            <a:r>
              <a:t>Comments • Shares</a:t>
            </a:r>
            <a:br/>
            <a:r>
              <a:t>Clicks • Visits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429000" cy="2286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148840"/>
            <a:ext cx="73152" cy="2286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313432"/>
            <a:ext cx="3063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52344"/>
            <a:ext cx="3063240" cy="1572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Large volumes of user activity are difficult to review manually.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29000" cy="2286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148840"/>
            <a:ext cx="73152" cy="22860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313432"/>
            <a:ext cx="3063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ML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52344"/>
            <a:ext cx="3063240" cy="1572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Learn patterns from data and predict an engagement category.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1">
                <a:solidFill>
                  <a:srgbClr val="2A3442"/>
                </a:solidFill>
                <a:latin typeface="Aptos"/>
              </a:defRPr>
            </a:pPr>
            <a:r>
              <a:t>Goal: turn audience behavior into an understandable engagement label.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02 •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300" b="1">
                <a:solidFill>
                  <a:srgbClr val="162745"/>
                </a:solidFill>
                <a:latin typeface="Aptos"/>
              </a:defRPr>
            </a:pPr>
            <a:r>
              <a:t>Manually identifying engagement levels becomes difficult when audience data is large and includes several behavior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329184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73152" cy="1828800"/>
          </a:xfrm>
          <a:prstGeom prst="rect">
            <a:avLst/>
          </a:prstGeom>
          <a:solidFill>
            <a:srgbClr val="CD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953512"/>
            <a:ext cx="29260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92424"/>
            <a:ext cx="2926080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Many users and multiple behavior measures.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788920"/>
            <a:ext cx="329184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788920"/>
            <a:ext cx="73152" cy="182880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953512"/>
            <a:ext cx="29260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392424"/>
            <a:ext cx="2926080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Train a Decision Tree to classify engagement.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88920"/>
            <a:ext cx="329184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788920"/>
            <a:ext cx="73152" cy="18288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953512"/>
            <a:ext cx="29260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392424"/>
            <a:ext cx="2926080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Use cross-validation to assess consistency.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4241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0">
                <a:solidFill>
                  <a:srgbClr val="2A3442"/>
                </a:solidFill>
                <a:latin typeface="Aptos"/>
              </a:defRPr>
            </a:pPr>
            <a:r>
              <a:t>Project aim: classify audience engagement as Low, Medium, or High using behavioral features.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03 •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749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05156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20824"/>
            <a:ext cx="4709159" cy="338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Analyze audience behavioral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0749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73152" cy="105156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581912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20824"/>
            <a:ext cx="4709159" cy="338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Identify useful engagement-related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34640"/>
            <a:ext cx="50749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34640"/>
            <a:ext cx="73152" cy="105156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99232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438144"/>
            <a:ext cx="4709159" cy="338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Classify engagement into Low, Medium, and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34640"/>
            <a:ext cx="50749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834640"/>
            <a:ext cx="73152" cy="105156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999232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438144"/>
            <a:ext cx="4709159" cy="338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Build a Decision Tree classification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50749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251960"/>
            <a:ext cx="73152" cy="105156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416552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855464"/>
            <a:ext cx="4709159" cy="338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Evaluate performance using K-Fold Cross-Validation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51960"/>
            <a:ext cx="50749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73152" cy="105156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416552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855464"/>
            <a:ext cx="4709159" cy="338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Report results using suitable classification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Dataset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04 •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5F6C7D"/>
                </a:solidFill>
                <a:latin typeface="Aptos"/>
              </a:defRPr>
            </a:pPr>
            <a:r>
              <a:t>Example feature set — replace with the fields in your actual dataset.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6675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  <a:gridCol w="2377440"/>
              </a:tblGrid>
              <a:tr h="6583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109728" marR="73152"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109728" marR="73152">
                    <a:solidFill>
                      <a:srgbClr val="162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109728" marR="73152">
                    <a:solidFill>
                      <a:srgbClr val="1627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Watch time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Time spent viewing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Input (X)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Likes / comments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Direct interactions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Input (X)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Shares / clicks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Content actions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Input (X)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Engagement level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Low / Medium / High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Target (y)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09560" y="1828800"/>
            <a:ext cx="342900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828800"/>
            <a:ext cx="73152" cy="137160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993392"/>
            <a:ext cx="3063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INPUT 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432304"/>
            <a:ext cx="30632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Behavioral features used by the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20440"/>
            <a:ext cx="342900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3520440"/>
            <a:ext cx="73152" cy="13716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3685032"/>
            <a:ext cx="3063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62745"/>
                </a:solidFill>
                <a:latin typeface="Aptos"/>
              </a:defRPr>
            </a:pPr>
            <a:r>
              <a:t>TARGET (y)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4123944"/>
            <a:ext cx="30632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The engagement class to predict.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F6C7D"/>
                </a:solidFill>
                <a:latin typeface="Aptos"/>
              </a:defRPr>
            </a:pPr>
            <a:r>
              <a:t>Dataset source and final feature list: [Add your actual dataset details]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05 •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78892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14300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64792"/>
            <a:ext cx="24231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03704"/>
            <a:ext cx="24231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00200"/>
            <a:ext cx="278892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600200"/>
            <a:ext cx="73152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764792"/>
            <a:ext cx="24231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203704"/>
            <a:ext cx="24231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600200"/>
            <a:ext cx="278892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600200"/>
            <a:ext cx="73152" cy="114300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1764792"/>
            <a:ext cx="24231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2203704"/>
            <a:ext cx="24231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Select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794760"/>
            <a:ext cx="278892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3794760"/>
            <a:ext cx="73152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3959352"/>
            <a:ext cx="24231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4398264"/>
            <a:ext cx="24231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278892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73152" cy="114300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3959352"/>
            <a:ext cx="24231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398264"/>
            <a:ext cx="24231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Cross-validation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94760"/>
            <a:ext cx="278892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794760"/>
            <a:ext cx="73152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959352"/>
            <a:ext cx="24231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398264"/>
            <a:ext cx="24231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Evaluate &amp; predict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74720" y="2176272"/>
            <a:ext cx="685800" cy="0"/>
          </a:xfrm>
          <a:prstGeom prst="line">
            <a:avLst/>
          </a:prstGeom>
          <a:ln w="3175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40880" y="2176272"/>
            <a:ext cx="685799" cy="0"/>
          </a:xfrm>
          <a:prstGeom prst="line">
            <a:avLst/>
          </a:prstGeom>
          <a:ln w="3175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89720" y="2788920"/>
            <a:ext cx="0" cy="914400"/>
          </a:xfrm>
          <a:prstGeom prst="line">
            <a:avLst/>
          </a:prstGeom>
          <a:ln w="3175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086600" y="4370832"/>
            <a:ext cx="640079" cy="0"/>
          </a:xfrm>
          <a:prstGeom prst="line">
            <a:avLst/>
          </a:prstGeom>
          <a:ln w="3175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520440" y="4370832"/>
            <a:ext cx="640080" cy="0"/>
          </a:xfrm>
          <a:prstGeom prst="line">
            <a:avLst/>
          </a:prstGeom>
          <a:ln w="3175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0">
                <a:solidFill>
                  <a:srgbClr val="5F6C7D"/>
                </a:solidFill>
                <a:latin typeface="Aptos"/>
              </a:defRPr>
            </a:pPr>
            <a:r>
              <a:t>Preprocessing may include handling missing values, duplicates, and categorical fields.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Decision Tree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06 •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5156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162745"/>
                </a:solidFill>
                <a:latin typeface="Aptos"/>
              </a:defRPr>
            </a:pPr>
            <a:r>
              <a:t>A Decision Tree learns a sequence of feature-based decisions from labeled examples.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965960"/>
            <a:ext cx="3840480" cy="640080"/>
          </a:xfrm>
          <a:prstGeom prst="roundRect">
            <a:avLst/>
          </a:prstGeom>
          <a:solidFill>
            <a:srgbClr val="162745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Watch time &gt; threshold?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3337560"/>
            <a:ext cx="3017520" cy="685800"/>
          </a:xfrm>
          <a:prstGeom prst="roundRect">
            <a:avLst/>
          </a:prstGeom>
          <a:solidFill>
            <a:srgbClr val="3069B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No → Low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337560"/>
            <a:ext cx="3017520" cy="685800"/>
          </a:xfrm>
          <a:prstGeom prst="roundRect">
            <a:avLst/>
          </a:prstGeom>
          <a:solidFill>
            <a:srgbClr val="1C9B9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Yes → Interaction level?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09160"/>
            <a:ext cx="2468880" cy="68580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A3442"/>
                </a:solidFill>
                <a:latin typeface="Aptos"/>
              </a:defRPr>
            </a:pPr>
            <a:r>
              <a:t>Lower → 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4709160"/>
            <a:ext cx="2286000" cy="685800"/>
          </a:xfrm>
          <a:prstGeom prst="roundRect">
            <a:avLst/>
          </a:prstGeom>
          <a:solidFill>
            <a:srgbClr val="EFF5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A3442"/>
                </a:solidFill>
                <a:latin typeface="Aptos"/>
              </a:defRPr>
            </a:pPr>
            <a:r>
              <a:t>Higher → High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834640" y="2606040"/>
            <a:ext cx="1554480" cy="685800"/>
          </a:xfrm>
          <a:prstGeom prst="line">
            <a:avLst/>
          </a:prstGeom>
          <a:ln w="2540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2606040"/>
            <a:ext cx="1463040" cy="685800"/>
          </a:xfrm>
          <a:prstGeom prst="line">
            <a:avLst/>
          </a:prstGeom>
          <a:ln w="2540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635240" y="4023360"/>
            <a:ext cx="1097280" cy="640080"/>
          </a:xfrm>
          <a:prstGeom prst="line">
            <a:avLst/>
          </a:prstGeom>
          <a:ln w="2540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4023360"/>
            <a:ext cx="320040" cy="640080"/>
          </a:xfrm>
          <a:prstGeom prst="line">
            <a:avLst/>
          </a:prstGeom>
          <a:ln w="25400">
            <a:solidFill>
              <a:srgbClr val="1C9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0">
                <a:solidFill>
                  <a:srgbClr val="5F6C7D"/>
                </a:solidFill>
                <a:latin typeface="Aptos"/>
              </a:defRPr>
            </a:pPr>
            <a:r>
              <a:t>Illustrative tree only: the actual rules are learned from the training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K-Fold Cross-Validation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07 •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162745"/>
                </a:solidFill>
                <a:latin typeface="Aptos"/>
              </a:defRPr>
            </a:pPr>
            <a:r>
              <a:t>Split the dataset into K folds. Each fold is used once for validation while the remaining folds train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162745"/>
                </a:solidFill>
                <a:latin typeface="Aptos"/>
              </a:defRPr>
            </a:pPr>
            <a:r>
              <a:t>Fold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97480"/>
            <a:ext cx="1828800" cy="365760"/>
          </a:xfrm>
          <a:prstGeom prst="roundRect">
            <a:avLst/>
          </a:prstGeom>
          <a:solidFill>
            <a:srgbClr val="30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48456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12464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23944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87952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599432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24028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162745"/>
                </a:solidFill>
                <a:latin typeface="Aptos"/>
              </a:defRPr>
            </a:pPr>
            <a:r>
              <a:t>Fold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697480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761488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172968"/>
            <a:ext cx="1828800" cy="365760"/>
          </a:xfrm>
          <a:prstGeom prst="roundRect">
            <a:avLst/>
          </a:prstGeom>
          <a:solidFill>
            <a:srgbClr val="1C9B9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236976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3648456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3712464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123944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187952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4599432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4663440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24028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162745"/>
                </a:solidFill>
                <a:latin typeface="Aptos"/>
              </a:defRPr>
            </a:pPr>
            <a:r>
              <a:t>Fold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2697480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2761488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9240" y="3172968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3236976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49240" y="3648456"/>
            <a:ext cx="1828800" cy="365760"/>
          </a:xfrm>
          <a:prstGeom prst="roundRect">
            <a:avLst/>
          </a:prstGeom>
          <a:solidFill>
            <a:srgbClr val="F5B1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3712464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49240" y="4123944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4187952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49240" y="4599432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4663440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224028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162745"/>
                </a:solidFill>
                <a:latin typeface="Aptos"/>
              </a:defRPr>
            </a:pPr>
            <a:r>
              <a:t>Fold 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2697480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2761488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3172968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3236976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3648456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3712464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4123944"/>
            <a:ext cx="1828800" cy="365760"/>
          </a:xfrm>
          <a:prstGeom prst="roundRect">
            <a:avLst/>
          </a:prstGeom>
          <a:solidFill>
            <a:srgbClr val="30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4187952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0" y="4599432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4663440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800" y="224028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162745"/>
                </a:solidFill>
                <a:latin typeface="Aptos"/>
              </a:defRPr>
            </a:pPr>
            <a:r>
              <a:t>Fold 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29800" y="2697480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75520" y="2761488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29800" y="3172968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3236976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29800" y="3648456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5520" y="3712464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29800" y="4123944"/>
            <a:ext cx="182880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5520" y="4187952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5F6C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29800" y="4599432"/>
            <a:ext cx="1828800" cy="365760"/>
          </a:xfrm>
          <a:prstGeom prst="roundRect">
            <a:avLst/>
          </a:prstGeom>
          <a:solidFill>
            <a:srgbClr val="1C9B9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20" y="4663440"/>
            <a:ext cx="17373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5349240"/>
            <a:ext cx="4754880" cy="77724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" y="5349240"/>
            <a:ext cx="73152" cy="77724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5568" y="5513831"/>
            <a:ext cx="438912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62745"/>
                </a:solidFill>
                <a:latin typeface="Aptos"/>
              </a:defRPr>
            </a:pPr>
            <a:r>
              <a:t>WHY USE IT?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" y="5952744"/>
            <a:ext cx="438912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A3442"/>
                </a:solidFill>
                <a:latin typeface="Aptos"/>
              </a:defRPr>
            </a:pPr>
            <a:r>
              <a:t>Checks performance across different data splits.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5349240"/>
            <a:ext cx="4754880" cy="77724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00800" y="5349240"/>
            <a:ext cx="73152" cy="77724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01968" y="5513831"/>
            <a:ext cx="438912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62745"/>
                </a:solidFill>
                <a:latin typeface="Aptos"/>
              </a:defRPr>
            </a:pPr>
            <a:r>
              <a:t>FINAL SCORE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1968" y="5952744"/>
            <a:ext cx="4389120" cy="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A3442"/>
                </a:solidFill>
                <a:latin typeface="Aptos"/>
              </a:defRPr>
            </a:pPr>
            <a:r>
              <a:t>Usually report the mean of the K validation scores.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Evaluation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08 •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6537960" cy="621792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621792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90472"/>
            <a:ext cx="61722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62745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29384"/>
            <a:ext cx="6172200" cy="-91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A3442"/>
                </a:solidFill>
                <a:latin typeface="Aptos"/>
              </a:defRPr>
            </a:pPr>
            <a:r>
              <a:t>Correct predictions / all predictions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30552"/>
            <a:ext cx="6537960" cy="621792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30552"/>
            <a:ext cx="73152" cy="621792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295144"/>
            <a:ext cx="61722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62745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34056"/>
            <a:ext cx="6172200" cy="-91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A3442"/>
                </a:solidFill>
                <a:latin typeface="Aptos"/>
              </a:defRPr>
            </a:pPr>
            <a:r>
              <a:t>Correct positive predictions / predicted positives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35224"/>
            <a:ext cx="6537960" cy="621792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35224"/>
            <a:ext cx="73152" cy="621792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099816"/>
            <a:ext cx="61722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62745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538728"/>
            <a:ext cx="6172200" cy="-91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A3442"/>
                </a:solidFill>
                <a:latin typeface="Aptos"/>
              </a:defRPr>
            </a:pPr>
            <a:r>
              <a:t>Correct positive predictions / actual positives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9896"/>
            <a:ext cx="6537960" cy="621792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39896"/>
            <a:ext cx="73152" cy="621792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904487"/>
            <a:ext cx="61722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62745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343400"/>
            <a:ext cx="6172200" cy="-91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A3442"/>
                </a:solidFill>
                <a:latin typeface="Aptos"/>
              </a:defRPr>
            </a:pPr>
            <a:r>
              <a:t>Harmonic mean of precision and recall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44568"/>
            <a:ext cx="6537960" cy="621792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544568"/>
            <a:ext cx="73152" cy="621792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709159"/>
            <a:ext cx="61722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62745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148072"/>
            <a:ext cx="6172200" cy="-91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A3442"/>
                </a:solidFill>
                <a:latin typeface="Aptos"/>
              </a:defRPr>
            </a:pPr>
            <a:r>
              <a:t>Counts correct and incorrect class predictions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1417320"/>
            <a:ext cx="3429000" cy="1874519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1417320"/>
            <a:ext cx="73152" cy="1874519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581912"/>
            <a:ext cx="3063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62745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2020824"/>
            <a:ext cx="3063240" cy="116128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Accuracy: [Insert]</a:t>
            </a:r>
            <a:br/>
            <a:r>
              <a:t>Precision: [Insert]</a:t>
            </a:r>
            <a:br/>
            <a:r>
              <a:t>Recall: [Insert]</a:t>
            </a:r>
            <a:br/>
            <a:r>
              <a:t>F1-score: [Insert]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3657600"/>
            <a:ext cx="342900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3657600"/>
            <a:ext cx="73152" cy="141732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3822191"/>
            <a:ext cx="3063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62745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4261104"/>
            <a:ext cx="3063240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A3442"/>
                </a:solidFill>
                <a:latin typeface="Aptos"/>
              </a:defRPr>
            </a:pPr>
            <a:r>
              <a:t>Mean CV score: [Insert]</a:t>
            </a:r>
            <a:br/>
            <a:r>
              <a:t>Use actual experiment results.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60720"/>
            <a:ext cx="103327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5F6C7D"/>
                </a:solidFill>
                <a:latin typeface="Aptos"/>
              </a:defRPr>
            </a:pPr>
            <a:r>
              <a:t>No performance values are shown because experimental results were not provided.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Applications &amp;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09 •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074920" cy="35661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3152" cy="356616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27632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162745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66544"/>
            <a:ext cx="4709159" cy="2852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A3442"/>
                </a:solidFill>
                <a:latin typeface="Aptos"/>
              </a:defRPr>
            </a:pPr>
            <a:r>
              <a:t>• Social media analytics</a:t>
            </a:r>
            <a:br/>
            <a:r>
              <a:t>• Video platforms</a:t>
            </a:r>
            <a:br/>
            <a:r>
              <a:t>• Online education</a:t>
            </a:r>
            <a:br/>
            <a:r>
              <a:t>• Digital marketing</a:t>
            </a:r>
            <a:br/>
            <a:r>
              <a:t>• Website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074920" cy="35661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73152" cy="356616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27632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162745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66544"/>
            <a:ext cx="4709159" cy="2852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2A3442"/>
                </a:solidFill>
                <a:latin typeface="Aptos"/>
              </a:defRPr>
            </a:pPr>
            <a:r>
              <a:t>• Easy to interpret</a:t>
            </a:r>
            <a:br/>
            <a:r>
              <a:t>• Visual decision rules</a:t>
            </a:r>
            <a:br/>
            <a:r>
              <a:t>• Suitable for classification</a:t>
            </a:r>
            <a:br/>
            <a:r>
              <a:t>• Identifies behavior patterns</a:t>
            </a:r>
            <a:br/>
            <a:r>
              <a:t>• Cross-validation checks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0">
                <a:solidFill>
                  <a:srgbClr val="5F6C7D"/>
                </a:solidFill>
                <a:latin typeface="Aptos"/>
              </a:defRPr>
            </a:pPr>
            <a:r>
              <a:t>Predictions depend on the quality, relevance, and representativeness of the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62745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54864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93776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10 •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074920" cy="35661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3566160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73351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16274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12264"/>
            <a:ext cx="4709159" cy="2852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• Use behavioral features to classify engagement</a:t>
            </a:r>
            <a:br/>
            <a:r>
              <a:t>• Decision Tree provides interpretable rules</a:t>
            </a:r>
            <a:br/>
            <a:r>
              <a:t>• K-Fold Cross-Validation estimates performance across splits</a:t>
            </a:r>
            <a:br/>
            <a:r>
              <a:t>• Metrics help assess model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074920" cy="3566160"/>
          </a:xfrm>
          <a:prstGeom prst="roundRect">
            <a:avLst/>
          </a:prstGeom>
          <a:solidFill>
            <a:srgbClr val="EFF5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73152" cy="356616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73351"/>
            <a:ext cx="4709159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1">
                <a:solidFill>
                  <a:srgbClr val="162745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112264"/>
            <a:ext cx="4709159" cy="2852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• Test on a larger real-world dataset</a:t>
            </a:r>
            <a:br/>
            <a:r>
              <a:t>• Compare with Random Forest and SVM</a:t>
            </a:r>
            <a:br/>
            <a:r>
              <a:t>• Add richer behavioral features</a:t>
            </a:r>
            <a:br/>
            <a:r>
              <a:t>• Explore real-time prediction</a:t>
            </a:r>
            <a:br/>
            <a:r>
              <a:t>• Consider personalized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0">
                <a:solidFill>
                  <a:srgbClr val="5F6C7D"/>
                </a:solidFill>
                <a:latin typeface="Aptos"/>
              </a:defRPr>
            </a:pPr>
            <a:r>
              <a:t>The final conclusion should be updated after evaluating the trained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MACHINE LEARNING PROJECT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5F6C7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300" b="0">
                <a:solidFill>
                  <a:srgbClr val="BEDCE8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40680" y="3566160"/>
            <a:ext cx="1280160" cy="64008"/>
          </a:xfrm>
          <a:prstGeom prst="rect">
            <a:avLst/>
          </a:prstGeom>
          <a:solidFill>
            <a:srgbClr val="1C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7840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Audience Engagement Classification Using Decision Trees with Cross-Validation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